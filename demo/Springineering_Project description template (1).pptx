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702" r:id="rId2"/>
  </p:sldMasterIdLst>
  <p:sldIdLst>
    <p:sldId id="265" r:id="rId3"/>
    <p:sldId id="258" r:id="rId4"/>
    <p:sldId id="259" r:id="rId5"/>
    <p:sldId id="260" r:id="rId6"/>
  </p:sldIdLst>
  <p:sldSz cx="6858000" cy="9906000" type="A4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B625CA6-E014-4E93-54FA-13CA358CE74B}" name="Hanna Saarela" initials="HS" userId="S::hsaarela@univ.yo.oulu.fi::671a794f-e747-41b4-9147-a18b58d22ed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C196DF-8E4C-20A7-BEF2-920CE4DE7AB6}" v="22" dt="2026-04-09T13:28:12.1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41" d="100"/>
          <a:sy n="41" d="100"/>
        </p:scale>
        <p:origin x="1400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microsoft.com/office/2015/10/relationships/revisionInfo" Target="revisionInfo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881" y="790956"/>
            <a:ext cx="6383084" cy="11358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355" dirty="0">
                <a:solidFill>
                  <a:schemeClr val="tx2"/>
                </a:solidFill>
                <a:latin typeface="Rockwell" panose="02060603020205020403" pitchFamily="18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44" y="8638032"/>
            <a:ext cx="6383084" cy="7660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92881" y="2476699"/>
            <a:ext cx="6472238" cy="1511101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52" y="9417305"/>
            <a:ext cx="1965552" cy="527403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93044" y="9417305"/>
            <a:ext cx="1578040" cy="527403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3091" y="9417305"/>
            <a:ext cx="241429" cy="527403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6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1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45" y="594360"/>
            <a:ext cx="2582037" cy="54020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511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45" y="7039864"/>
            <a:ext cx="2366010" cy="199440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45134" y="495499"/>
            <a:ext cx="3519580" cy="89154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13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45" y="594360"/>
            <a:ext cx="3036216" cy="54020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533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45" y="7039864"/>
            <a:ext cx="2540889" cy="199440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80064" y="495300"/>
            <a:ext cx="2886262" cy="89154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8674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9082" y="594360"/>
            <a:ext cx="2453450" cy="5732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511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9083" y="7039864"/>
            <a:ext cx="2366010" cy="199440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95453" y="495499"/>
            <a:ext cx="3519580" cy="89154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380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44" y="633984"/>
            <a:ext cx="5241227" cy="6432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3866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45" y="7171944"/>
            <a:ext cx="3055239" cy="186232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3054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099" y="2218944"/>
            <a:ext cx="5158931" cy="3777488"/>
          </a:xfrm>
        </p:spPr>
        <p:txBody>
          <a:bodyPr anchor="ctr">
            <a:normAutofit/>
          </a:bodyPr>
          <a:lstStyle>
            <a:lvl1pPr algn="ctr">
              <a:defRPr sz="7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099" y="6395356"/>
            <a:ext cx="5158931" cy="1651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85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44" y="633984"/>
            <a:ext cx="6465380" cy="67228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8055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45" y="7356856"/>
            <a:ext cx="3188970" cy="167741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506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5" y="2615184"/>
            <a:ext cx="4371975" cy="6590792"/>
          </a:xfrm>
        </p:spPr>
        <p:txBody>
          <a:bodyPr anchor="b">
            <a:normAutofit/>
          </a:bodyPr>
          <a:lstStyle>
            <a:lvl1pPr>
              <a:defRPr sz="11555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05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5" y="594360"/>
            <a:ext cx="6213348" cy="2641600"/>
          </a:xfrm>
        </p:spPr>
        <p:txBody>
          <a:bodyPr anchor="t">
            <a:normAutofit/>
          </a:bodyPr>
          <a:lstStyle>
            <a:lvl1pPr>
              <a:defRPr sz="1155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74136" y="3500120"/>
            <a:ext cx="3086100" cy="5613400"/>
          </a:xfrm>
        </p:spPr>
        <p:txBody>
          <a:bodyPr vert="horz" lIns="91440" tIns="45720" rIns="91440" bIns="45720" rtlCol="0">
            <a:normAutofit/>
          </a:bodyPr>
          <a:lstStyle>
            <a:lvl1pPr marL="660380" indent="-660380">
              <a:buFont typeface="+mj-lt"/>
              <a:buAutoNum type="arabicPeriod"/>
              <a:defRPr lang="en-US" dirty="0"/>
            </a:lvl1pPr>
            <a:lvl2pPr marL="825475" indent="-495285">
              <a:buFont typeface="+mj-lt"/>
              <a:buAutoNum type="arabicPeriod"/>
              <a:defRPr lang="en-US" dirty="0"/>
            </a:lvl2pPr>
            <a:lvl3pPr marL="1155664" indent="-495285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54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966" y="1463153"/>
            <a:ext cx="2263140" cy="2364232"/>
          </a:xfrm>
        </p:spPr>
        <p:txBody>
          <a:bodyPr anchor="b">
            <a:normAutofit/>
          </a:bodyPr>
          <a:lstStyle>
            <a:lvl1pPr>
              <a:defRPr sz="69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92882" y="498491"/>
            <a:ext cx="3777170" cy="8902845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9966" y="4184001"/>
            <a:ext cx="2263140" cy="4860544"/>
          </a:xfrm>
        </p:spPr>
        <p:txBody>
          <a:bodyPr vert="horz" lIns="91440" tIns="45720" rIns="91440" bIns="45720" rtlCol="0">
            <a:normAutofit/>
          </a:bodyPr>
          <a:lstStyle>
            <a:lvl1pPr marL="495285" indent="-495285">
              <a:buFont typeface="+mj-lt"/>
              <a:buAutoNum type="arabicPeriod"/>
              <a:defRPr lang="en-US" dirty="0"/>
            </a:lvl1pPr>
            <a:lvl2pPr marL="825475" indent="-495285">
              <a:buFont typeface="+mj-lt"/>
              <a:buAutoNum type="arabicPeriod"/>
              <a:defRPr lang="en-US" dirty="0"/>
            </a:lvl2pPr>
            <a:lvl3pPr marL="1155664" indent="-495285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330190" lvl="0" indent="-330190"/>
            <a:r>
              <a:rPr lang="en-US" dirty="0"/>
              <a:t>Click to edit Master text styles</a:t>
            </a:r>
          </a:p>
          <a:p>
            <a:pPr marL="330190" lvl="1" indent="-330190"/>
            <a:r>
              <a:rPr lang="en-US" dirty="0"/>
              <a:t>Second level</a:t>
            </a:r>
          </a:p>
          <a:p>
            <a:pPr marL="330190" lvl="2" indent="-330190"/>
            <a:r>
              <a:rPr lang="en-US" dirty="0"/>
              <a:t>Third level</a:t>
            </a:r>
          </a:p>
          <a:p>
            <a:pPr marL="330190" lvl="3" indent="-330190"/>
            <a:r>
              <a:rPr lang="en-US" dirty="0"/>
              <a:t>Fourth level</a:t>
            </a:r>
          </a:p>
          <a:p>
            <a:pPr marL="330190" lvl="4" indent="-33019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58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928" y="3579368"/>
            <a:ext cx="2432876" cy="3545816"/>
          </a:xfrm>
        </p:spPr>
        <p:txBody>
          <a:bodyPr anchor="t">
            <a:normAutofit/>
          </a:bodyPr>
          <a:lstStyle>
            <a:lvl1pPr>
              <a:defRPr sz="635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29012" y="3579368"/>
            <a:ext cx="2432876" cy="35529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330190" indent="0">
              <a:buNone/>
              <a:defRPr lang="en-US" dirty="0"/>
            </a:lvl2pPr>
            <a:lvl3pPr marL="660380" indent="0">
              <a:buNone/>
              <a:defRPr lang="en-US" dirty="0"/>
            </a:lvl3pPr>
            <a:lvl4pPr marL="990570" indent="0">
              <a:buNone/>
              <a:defRPr lang="en-US" dirty="0"/>
            </a:lvl4pPr>
            <a:lvl5pPr marL="1320759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2696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928" y="2945384"/>
            <a:ext cx="2144840" cy="5111496"/>
          </a:xfrm>
        </p:spPr>
        <p:txBody>
          <a:bodyPr anchor="t">
            <a:normAutofit/>
          </a:bodyPr>
          <a:lstStyle>
            <a:lvl1pPr>
              <a:defRPr sz="462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50096" y="2945384"/>
            <a:ext cx="2839212" cy="51114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91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4" y="2311400"/>
            <a:ext cx="2330006" cy="6696456"/>
          </a:xfrm>
        </p:spPr>
        <p:txBody>
          <a:bodyPr anchor="t">
            <a:normAutofit/>
          </a:bodyPr>
          <a:lstStyle>
            <a:lvl1pPr>
              <a:defRPr sz="462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50095" y="2311400"/>
            <a:ext cx="3255836" cy="669645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47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4" y="924560"/>
            <a:ext cx="2268284" cy="5230368"/>
          </a:xfrm>
        </p:spPr>
        <p:txBody>
          <a:bodyPr anchor="t">
            <a:normAutofit/>
          </a:bodyPr>
          <a:lstStyle>
            <a:lvl1pPr>
              <a:defRPr sz="462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50095" y="924560"/>
            <a:ext cx="3358706" cy="82682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000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5" y="924560"/>
            <a:ext cx="1964817" cy="5230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89454" y="924561"/>
            <a:ext cx="4027361" cy="8261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73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2105" y="792480"/>
            <a:ext cx="3394710" cy="1651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92881" y="495300"/>
            <a:ext cx="2531898" cy="89154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22105" y="2641600"/>
            <a:ext cx="3394710" cy="6485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701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4" y="792480"/>
            <a:ext cx="3451289" cy="1651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1744" y="2641600"/>
            <a:ext cx="3451289" cy="6485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36234" y="508917"/>
            <a:ext cx="2528887" cy="89154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761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1293" y="462280"/>
            <a:ext cx="3806190" cy="1347216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90898" y="497501"/>
            <a:ext cx="2142311" cy="89154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711293" y="1994408"/>
            <a:ext cx="3806190" cy="7198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2359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5" y="462280"/>
            <a:ext cx="3857625" cy="134721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1745" y="1994408"/>
            <a:ext cx="3857625" cy="7198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26307" y="497501"/>
            <a:ext cx="2142311" cy="89154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184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935" y="869202"/>
            <a:ext cx="2468880" cy="220573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92106" y="495303"/>
            <a:ext cx="3515500" cy="8915607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47935" y="3288792"/>
            <a:ext cx="2468880" cy="58379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21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5" y="871728"/>
            <a:ext cx="2520315" cy="220573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1744" y="3288792"/>
            <a:ext cx="2520315" cy="58379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7397" y="495300"/>
            <a:ext cx="3437723" cy="8915599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213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935" y="462280"/>
            <a:ext cx="2468880" cy="134721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92106" y="495303"/>
            <a:ext cx="3515500" cy="8915607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47935" y="1994408"/>
            <a:ext cx="2468880" cy="7198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8338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4" y="462280"/>
            <a:ext cx="2572545" cy="134721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1744" y="1994408"/>
            <a:ext cx="2572545" cy="7198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7397" y="495300"/>
            <a:ext cx="3437723" cy="8915599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4393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585" y="871728"/>
            <a:ext cx="1913382" cy="220573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92881" y="495301"/>
            <a:ext cx="4157663" cy="89154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80585" y="3288792"/>
            <a:ext cx="1913382" cy="58379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939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5" y="871728"/>
            <a:ext cx="1913382" cy="220573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32849" y="495301"/>
            <a:ext cx="4132270" cy="89154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1745" y="3288792"/>
            <a:ext cx="1913382" cy="58379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7441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2" y="1558544"/>
            <a:ext cx="1841373" cy="281330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92881" y="495301"/>
            <a:ext cx="4157663" cy="89154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5442" y="4477512"/>
            <a:ext cx="1841373" cy="4266184"/>
          </a:xfrm>
        </p:spPr>
        <p:txBody>
          <a:bodyPr>
            <a:normAutofit/>
          </a:bodyPr>
          <a:lstStyle>
            <a:lvl1pPr marL="0" indent="0">
              <a:buNone/>
              <a:defRPr sz="2311"/>
            </a:lvl1pPr>
            <a:lvl2pPr marL="330190" indent="0">
              <a:buNone/>
              <a:defRPr sz="2022"/>
            </a:lvl2pPr>
            <a:lvl3pPr marL="660380" indent="0">
              <a:buNone/>
              <a:defRPr sz="2022"/>
            </a:lvl3pPr>
            <a:lvl4pPr marL="990570" indent="0">
              <a:buNone/>
              <a:defRPr sz="2022"/>
            </a:lvl4pPr>
            <a:lvl5pPr marL="1320759" indent="0">
              <a:buNone/>
              <a:defRPr sz="2022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941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7383789"/>
            <a:ext cx="2103344" cy="2007616"/>
          </a:xfrm>
        </p:spPr>
        <p:txBody>
          <a:bodyPr anchor="t">
            <a:normAutofit/>
          </a:bodyPr>
          <a:lstStyle>
            <a:lvl1pPr>
              <a:defRPr sz="462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0897" y="462285"/>
            <a:ext cx="6474223" cy="63625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4/9/2026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0460" y="7383789"/>
            <a:ext cx="3600450" cy="200761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311"/>
            </a:lvl1pPr>
            <a:lvl2pPr marL="330190" indent="0">
              <a:buFont typeface="Arial" panose="020B0604020202020204" pitchFamily="34" charset="0"/>
              <a:buNone/>
              <a:defRPr sz="2022"/>
            </a:lvl2pPr>
            <a:lvl3pPr marL="660380" indent="0">
              <a:buFont typeface="Arial" panose="020B0604020202020204" pitchFamily="34" charset="0"/>
              <a:buNone/>
              <a:defRPr sz="2022"/>
            </a:lvl3pPr>
            <a:lvl4pPr marL="990570" indent="0">
              <a:buFont typeface="Arial" panose="020B0604020202020204" pitchFamily="34" charset="0"/>
              <a:buNone/>
              <a:defRPr sz="2022"/>
            </a:lvl4pPr>
            <a:lvl5pPr marL="1320759" indent="0">
              <a:buFont typeface="Arial" panose="020B0604020202020204" pitchFamily="34" charset="0"/>
              <a:buNone/>
              <a:defRPr sz="2022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444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6012237"/>
            <a:ext cx="1661410" cy="2734056"/>
          </a:xfrm>
        </p:spPr>
        <p:txBody>
          <a:bodyPr anchor="t">
            <a:normAutofit/>
          </a:bodyPr>
          <a:lstStyle>
            <a:lvl1pPr>
              <a:defRPr sz="462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90897" y="462283"/>
            <a:ext cx="6474223" cy="4995220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4/9/2026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37423" y="6012237"/>
            <a:ext cx="4371975" cy="3235960"/>
          </a:xfrm>
        </p:spPr>
        <p:txBody>
          <a:bodyPr>
            <a:normAutofit/>
          </a:bodyPr>
          <a:lstStyle>
            <a:lvl1pPr marL="412737" indent="-412737">
              <a:buFont typeface="Arial" panose="020B0604020202020204" pitchFamily="34" charset="0"/>
              <a:buChar char="•"/>
              <a:defRPr sz="2600"/>
            </a:lvl1pPr>
            <a:lvl2pPr marL="742927" indent="-412737">
              <a:buFont typeface="Arial" panose="020B0604020202020204" pitchFamily="34" charset="0"/>
              <a:buChar char="•"/>
              <a:defRPr sz="2311"/>
            </a:lvl2pPr>
            <a:lvl3pPr marL="1073117" indent="-412737">
              <a:buFont typeface="Arial" panose="020B0604020202020204" pitchFamily="34" charset="0"/>
              <a:buChar char="•"/>
              <a:defRPr sz="2022"/>
            </a:lvl3pPr>
            <a:lvl4pPr marL="1238212" indent="-247642">
              <a:buFont typeface="Arial" panose="020B0604020202020204" pitchFamily="34" charset="0"/>
              <a:buChar char="•"/>
              <a:defRPr sz="2022"/>
            </a:lvl4pPr>
            <a:lvl5pPr marL="1568402" indent="-247642">
              <a:buFont typeface="Arial" panose="020B0604020202020204" pitchFamily="34" charset="0"/>
              <a:buChar char="•"/>
              <a:defRPr sz="2022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109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810947"/>
            <a:ext cx="1661410" cy="2734056"/>
          </a:xfrm>
        </p:spPr>
        <p:txBody>
          <a:bodyPr anchor="t">
            <a:normAutofit/>
          </a:bodyPr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90897" y="4430710"/>
            <a:ext cx="6474223" cy="4995220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52" y="9417304"/>
            <a:ext cx="1965552" cy="488696"/>
          </a:xfrm>
        </p:spPr>
        <p:txBody>
          <a:bodyPr/>
          <a:lstStyle/>
          <a:p>
            <a:fld id="{48CD4B21-9C97-4358-8E22-9F49A31BDF6B}" type="datetime1">
              <a:rPr lang="en-US" smtClean="0"/>
              <a:t>4/9/2026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37423" y="810947"/>
            <a:ext cx="4371975" cy="3235960"/>
          </a:xfrm>
        </p:spPr>
        <p:txBody>
          <a:bodyPr>
            <a:normAutofit/>
          </a:bodyPr>
          <a:lstStyle>
            <a:lvl1pPr marL="412737" indent="-412737">
              <a:buFont typeface="Arial" panose="020B0604020202020204" pitchFamily="34" charset="0"/>
              <a:buChar char="•"/>
              <a:defRPr sz="2600"/>
            </a:lvl1pPr>
            <a:lvl2pPr marL="742927" indent="-412737">
              <a:buFont typeface="Arial" panose="020B0604020202020204" pitchFamily="34" charset="0"/>
              <a:buChar char="•"/>
              <a:defRPr sz="2311"/>
            </a:lvl2pPr>
            <a:lvl3pPr marL="1073117" indent="-412737">
              <a:buFont typeface="Arial" panose="020B0604020202020204" pitchFamily="34" charset="0"/>
              <a:buChar char="•"/>
              <a:defRPr sz="2022"/>
            </a:lvl3pPr>
            <a:lvl4pPr marL="1238212" indent="-247642">
              <a:buFont typeface="Arial" panose="020B0604020202020204" pitchFamily="34" charset="0"/>
              <a:buChar char="•"/>
              <a:defRPr sz="2022"/>
            </a:lvl4pPr>
            <a:lvl5pPr marL="1568402" indent="-247642">
              <a:buFont typeface="Arial" panose="020B0604020202020204" pitchFamily="34" charset="0"/>
              <a:buChar char="•"/>
              <a:defRPr sz="2022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93044" y="9417304"/>
            <a:ext cx="1578040" cy="488696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3091" y="9417304"/>
            <a:ext cx="241429" cy="488696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810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5" y="871729"/>
            <a:ext cx="6275070" cy="1401780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41745" y="2641600"/>
            <a:ext cx="3474224" cy="6392672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99370" y="2641601"/>
            <a:ext cx="2417445" cy="639725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218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4" y="792479"/>
            <a:ext cx="2731199" cy="210007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6917" y="3312828"/>
            <a:ext cx="2686026" cy="583417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0" y="793398"/>
            <a:ext cx="3142083" cy="83536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901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5" y="794759"/>
            <a:ext cx="2152934" cy="2100072"/>
          </a:xfrm>
        </p:spPr>
        <p:txBody>
          <a:bodyPr anchor="t">
            <a:normAutofit/>
          </a:bodyPr>
          <a:lstStyle>
            <a:lvl1pPr>
              <a:defRPr sz="462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6917" y="3312825"/>
            <a:ext cx="2062544" cy="5834175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80443" y="793397"/>
            <a:ext cx="3690640" cy="8360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694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749" y="7211568"/>
            <a:ext cx="6300788" cy="1769872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3467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77749" y="1135888"/>
            <a:ext cx="6300788" cy="6075680"/>
          </a:xfrm>
        </p:spPr>
        <p:txBody>
          <a:bodyPr anchor="b">
            <a:normAutofit/>
          </a:bodyPr>
          <a:lstStyle>
            <a:lvl1pPr marL="0" indent="0" algn="ctr">
              <a:buNone/>
              <a:defRPr sz="40154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4802983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749" y="7211568"/>
            <a:ext cx="6300788" cy="1769872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4044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77749" y="1135888"/>
            <a:ext cx="6300788" cy="6075680"/>
          </a:xfrm>
        </p:spPr>
        <p:txBody>
          <a:bodyPr anchor="b">
            <a:normAutofit/>
          </a:bodyPr>
          <a:lstStyle>
            <a:lvl1pPr marL="0" indent="0" algn="ctr">
              <a:buNone/>
              <a:defRPr sz="40154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10766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4" y="6947408"/>
            <a:ext cx="3317558" cy="195478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4044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1744" y="871728"/>
            <a:ext cx="6300788" cy="60756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40154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6374590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614" y="-1637792"/>
            <a:ext cx="599217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4615" y="911352"/>
            <a:ext cx="4649724" cy="8096504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7800" b="1"/>
            </a:lvl1pPr>
            <a:lvl2pPr marL="330190" indent="0">
              <a:lnSpc>
                <a:spcPct val="100000"/>
              </a:lnSpc>
              <a:buNone/>
              <a:defRPr sz="6933" b="1"/>
            </a:lvl2pPr>
            <a:lvl3pPr marL="660380" indent="0">
              <a:lnSpc>
                <a:spcPct val="100000"/>
              </a:lnSpc>
              <a:buNone/>
              <a:defRPr sz="6355" b="1"/>
            </a:lvl3pPr>
            <a:lvl4pPr marL="990570" indent="0">
              <a:lnSpc>
                <a:spcPct val="100000"/>
              </a:lnSpc>
              <a:buNone/>
              <a:defRPr sz="5778" b="1"/>
            </a:lvl4pPr>
            <a:lvl5pPr marL="1320759" indent="0">
              <a:lnSpc>
                <a:spcPct val="100000"/>
              </a:lnSpc>
              <a:buNone/>
              <a:defRPr sz="5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8254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614" y="-1637792"/>
            <a:ext cx="599217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4615" y="2786888"/>
            <a:ext cx="4649724" cy="598322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7222" b="1"/>
            </a:lvl1pPr>
            <a:lvl2pPr marL="330190" indent="0">
              <a:lnSpc>
                <a:spcPct val="100000"/>
              </a:lnSpc>
              <a:buNone/>
              <a:defRPr sz="6355" b="1"/>
            </a:lvl2pPr>
            <a:lvl3pPr marL="660380" indent="0">
              <a:lnSpc>
                <a:spcPct val="100000"/>
              </a:lnSpc>
              <a:buNone/>
              <a:defRPr sz="5778" b="1"/>
            </a:lvl3pPr>
            <a:lvl4pPr marL="990570" indent="0">
              <a:lnSpc>
                <a:spcPct val="100000"/>
              </a:lnSpc>
              <a:buNone/>
              <a:defRPr sz="5200" b="1"/>
            </a:lvl4pPr>
            <a:lvl5pPr marL="1320759" indent="0">
              <a:lnSpc>
                <a:spcPct val="100000"/>
              </a:lnSpc>
              <a:buNone/>
              <a:defRPr sz="4622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57119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614" y="-1637792"/>
            <a:ext cx="599217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4615" y="792480"/>
            <a:ext cx="4649724" cy="809650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7222" b="1"/>
            </a:lvl1pPr>
            <a:lvl2pPr marL="330190" indent="0">
              <a:lnSpc>
                <a:spcPct val="100000"/>
              </a:lnSpc>
              <a:buNone/>
              <a:defRPr sz="6355" b="1"/>
            </a:lvl2pPr>
            <a:lvl3pPr marL="660380" indent="0">
              <a:lnSpc>
                <a:spcPct val="100000"/>
              </a:lnSpc>
              <a:buNone/>
              <a:defRPr sz="5778" b="1"/>
            </a:lvl3pPr>
            <a:lvl4pPr marL="990570" indent="0">
              <a:lnSpc>
                <a:spcPct val="100000"/>
              </a:lnSpc>
              <a:buNone/>
              <a:defRPr sz="5200" b="1"/>
            </a:lvl4pPr>
            <a:lvl5pPr marL="1320759" indent="0">
              <a:lnSpc>
                <a:spcPct val="100000"/>
              </a:lnSpc>
              <a:buNone/>
              <a:defRPr sz="4622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98721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0686" y="7621016"/>
            <a:ext cx="5097209" cy="673608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3178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3534" y="2641600"/>
            <a:ext cx="5174361" cy="4147312"/>
          </a:xfrm>
        </p:spPr>
        <p:txBody>
          <a:bodyPr anchor="ctr">
            <a:normAutofit/>
          </a:bodyPr>
          <a:lstStyle>
            <a:lvl1pPr marL="198114" indent="-198114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5778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312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453592" y="1097996"/>
            <a:ext cx="5950812" cy="771000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20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3269" y="7396480"/>
            <a:ext cx="4809173" cy="8981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30973" y="3024632"/>
            <a:ext cx="4891469" cy="3077464"/>
          </a:xfrm>
        </p:spPr>
        <p:txBody>
          <a:bodyPr anchor="ctr">
            <a:normAutofit/>
          </a:bodyPr>
          <a:lstStyle>
            <a:lvl1pPr marL="198114" indent="-198114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52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4819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688" y="7171944"/>
            <a:ext cx="5316018" cy="1862328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1745" y="633984"/>
            <a:ext cx="5410962" cy="6537960"/>
          </a:xfrm>
        </p:spPr>
        <p:txBody>
          <a:bodyPr anchor="ctr">
            <a:normAutofit/>
          </a:bodyPr>
          <a:lstStyle>
            <a:lvl1pPr marL="237737" indent="-237737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933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13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688" y="7171944"/>
            <a:ext cx="5146283" cy="1862328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1744" y="1703832"/>
            <a:ext cx="5241227" cy="5468112"/>
          </a:xfrm>
        </p:spPr>
        <p:txBody>
          <a:bodyPr anchor="b">
            <a:normAutofit/>
          </a:bodyPr>
          <a:lstStyle>
            <a:lvl1pPr marL="237737" indent="-237737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933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058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4" y="425025"/>
            <a:ext cx="6280214" cy="138447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1995" y="2918969"/>
            <a:ext cx="2931616" cy="6273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89735" y="2918968"/>
            <a:ext cx="2932509" cy="6273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012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4" y="398906"/>
            <a:ext cx="6280214" cy="14105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1744" y="1994408"/>
            <a:ext cx="2931795" cy="808649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889" b="1" cap="all" baseline="0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1995" y="2919060"/>
            <a:ext cx="2931616" cy="6273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90163" y="1994408"/>
            <a:ext cx="2931795" cy="808649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889" b="1" cap="all" baseline="0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89735" y="2919060"/>
            <a:ext cx="2932509" cy="6273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8497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158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6648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5" y="799666"/>
            <a:ext cx="2022544" cy="3196336"/>
          </a:xfrm>
        </p:spPr>
        <p:txBody>
          <a:bodyPr anchor="t">
            <a:normAutofit/>
          </a:bodyPr>
          <a:lstStyle>
            <a:lvl1pPr>
              <a:defRPr sz="462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1745" y="4077709"/>
            <a:ext cx="1861655" cy="5028624"/>
          </a:xfrm>
        </p:spPr>
        <p:txBody>
          <a:bodyPr anchor="t">
            <a:normAutofit/>
          </a:bodyPr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9560" y="799668"/>
            <a:ext cx="3637542" cy="8309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823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4" y="805689"/>
            <a:ext cx="2021396" cy="3195563"/>
          </a:xfrm>
        </p:spPr>
        <p:txBody>
          <a:bodyPr anchor="t">
            <a:normAutofit/>
          </a:bodyPr>
          <a:lstStyle>
            <a:lvl1pPr>
              <a:defRPr sz="462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1744" y="4082198"/>
            <a:ext cx="1861947" cy="4961144"/>
          </a:xfrm>
        </p:spPr>
        <p:txBody>
          <a:bodyPr anchor="b"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2532849" y="495302"/>
            <a:ext cx="4132270" cy="8915397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2600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228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5" y="620776"/>
            <a:ext cx="6125835" cy="2351024"/>
          </a:xfrm>
        </p:spPr>
        <p:txBody>
          <a:bodyPr anchor="t">
            <a:normAutofit/>
          </a:bodyPr>
          <a:lstStyle>
            <a:lvl1pPr>
              <a:defRPr sz="7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745" y="4715256"/>
            <a:ext cx="6125835" cy="40944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5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5" y="2350570"/>
            <a:ext cx="4145661" cy="2660696"/>
          </a:xfrm>
        </p:spPr>
        <p:txBody>
          <a:bodyPr anchor="b">
            <a:normAutofit/>
          </a:bodyPr>
          <a:lstStyle>
            <a:lvl1pPr>
              <a:defRPr sz="8666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1745" y="5232750"/>
            <a:ext cx="4145661" cy="32227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330190" indent="0">
              <a:buNone/>
              <a:defRPr lang="en-US" dirty="0"/>
            </a:lvl2pPr>
            <a:lvl3pPr marL="660380" indent="0">
              <a:buNone/>
              <a:defRPr lang="en-US" dirty="0"/>
            </a:lvl3pPr>
            <a:lvl4pPr marL="990570" indent="0">
              <a:buNone/>
              <a:defRPr lang="en-US" dirty="0"/>
            </a:lvl4pPr>
            <a:lvl5pPr marL="1320759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83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DCB0F-8351-C6DD-9404-23792AC02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AEF61-CC6E-4597-1043-8CCDC1A35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44350-5EA5-C606-4143-EE34AA324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0DE75-4E08-E707-4278-A7E08F956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7EFEF-4B06-EA96-9E93-84DB45242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50427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A7AE0-EDF8-09A6-C657-6F0B807AF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57026-5DDD-186B-E706-3CEDF7F0D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F3C19-CFDA-472D-B372-0FE15C216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A5C5B-26AA-BA55-4F1A-96D26510D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81DA8-2018-4105-F619-DA4DA2D6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25012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6BC34-3856-5C9F-A4D3-CC0F5302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07ACB-044A-3F7B-459B-C19F13B15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6EE3F-F749-BF88-AE54-454E1B674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EB6D5-7E53-2A69-3B50-EA52E3C9D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12669-5A98-3667-FA4C-10270CD30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70280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9EEA7-BAA0-9A1F-CDE7-3EBEFEF29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24D09-A682-8B56-62D9-815B25719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E6BFA-EC04-74F2-41D8-0CD4D4BBB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9F7D9-E979-029F-8F41-530877283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39696-F584-0DF1-C9F3-F88F5E32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F476C-ABEB-3269-EEBA-D62D10F94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24019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C1BA5-1D88-6C93-31EC-013E63959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E65B6-D756-5464-E1AD-D6DEC0A30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2BAD93-CA3D-0DC6-5A3E-0F1D41EE8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733246-DB98-8FEF-1D9D-EE4FA96F7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9B0FB3-AEA1-B30B-591C-967FE0B2DA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944E3-8357-55D3-DDF9-041FB0792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7A7B6D-5FAA-CB70-2718-4A4C5F87A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6C5C4F-DECD-37D1-ADF9-399E451B9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62178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3F0C0-A253-0E3B-B7DF-7F1B6C7A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1A1997-2DC6-A118-B15F-DB8CC191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48C64-7752-3BB9-5DAC-A9B2AB133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7DC257-0D14-17BA-3A2F-9FE36A96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1215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034128-E598-3288-5E51-6515EAA0B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6B42EF-63FE-F727-D499-D7E19D187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DBDE1-B70F-0E90-8CF2-842EB6A21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3258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8937-20B0-4430-0F68-312327955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60DA6-146E-8F8C-41B1-879633E5C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38647-4263-95CA-26B0-982795457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EF7FA-106E-B7BC-38AE-8955B41A7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F5B9B-7C88-243D-4446-044B87F7A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E557E-0A43-18F9-EE17-0D81C7AA6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977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ED34-36E4-B34F-6A17-6D46071F4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94DC0A-E3F3-8CC6-FE95-76C80E76A1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4F96EC-988A-A826-6E9F-DFC13EFCD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634EA-AC05-AC96-2E52-70271B947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095BE-CB65-F65A-E7B3-DB47CC2CE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D031D-A859-51C2-0737-2355F6B88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5754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8CA80-E945-D1C3-28E0-E95F8C0BF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0DC768-A464-91AC-C395-BFAA0F70C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04518-B0D7-BFCF-E3DE-B1CCDAEA0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993D7-03E8-B343-1AF1-85C77E97B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2D282-606B-86F8-C4B9-7756F74AF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345295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AFA407-72CD-AAD9-03E2-3C5698E4B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EE695-230D-F7E1-69C0-D74FA24C3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08D87-9A49-02D0-A175-9B6B4F141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2A39F-BBDF-F471-A1A1-F7F30A979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55A2A-84E8-D699-B95A-79051489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684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4" y="409448"/>
            <a:ext cx="5992178" cy="1400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1744" y="1994408"/>
            <a:ext cx="5992178" cy="7079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744" y="9417304"/>
            <a:ext cx="1599629" cy="4886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56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84051" y="9417304"/>
            <a:ext cx="1486472" cy="4886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6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5093" y="9417304"/>
            <a:ext cx="257175" cy="4886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6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56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sldNum="0" hdr="0" ftr="0" dt="0"/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4622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90" indent="-330190" algn="l" defTabSz="1320759" rtl="0" eaLnBrk="1" latinLnBrk="0" hangingPunct="1">
        <a:lnSpc>
          <a:spcPct val="120000"/>
        </a:lnSpc>
        <a:spcBef>
          <a:spcPts val="1444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indent="-330190" algn="l" defTabSz="1320759" rtl="0" eaLnBrk="1" latinLnBrk="0" hangingPunct="1">
        <a:lnSpc>
          <a:spcPct val="120000"/>
        </a:lnSpc>
        <a:spcBef>
          <a:spcPts val="722"/>
        </a:spcBef>
        <a:buFont typeface="Arial" panose="020B0604020202020204" pitchFamily="34" charset="0"/>
        <a:buChar char="•"/>
        <a:defRPr sz="2311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indent="-330190" algn="l" defTabSz="1320759" rtl="0" eaLnBrk="1" latinLnBrk="0" hangingPunct="1">
        <a:lnSpc>
          <a:spcPct val="120000"/>
        </a:lnSpc>
        <a:spcBef>
          <a:spcPts val="722"/>
        </a:spcBef>
        <a:buFont typeface="Arial" panose="020B0604020202020204" pitchFamily="34" charset="0"/>
        <a:buChar char="•"/>
        <a:defRPr sz="2022" kern="1200">
          <a:solidFill>
            <a:schemeClr val="tx1"/>
          </a:solidFill>
          <a:latin typeface="+mn-lt"/>
          <a:ea typeface="+mn-ea"/>
          <a:cs typeface="+mn-cs"/>
        </a:defRPr>
      </a:lvl3pPr>
      <a:lvl4pPr marL="1320759" indent="-330190" algn="l" defTabSz="1320759" rtl="0" eaLnBrk="1" latinLnBrk="0" hangingPunct="1">
        <a:lnSpc>
          <a:spcPct val="120000"/>
        </a:lnSpc>
        <a:spcBef>
          <a:spcPts val="722"/>
        </a:spcBef>
        <a:buFont typeface="Arial" panose="020B0604020202020204" pitchFamily="34" charset="0"/>
        <a:buChar char="•"/>
        <a:defRPr sz="2022" kern="1200">
          <a:solidFill>
            <a:schemeClr val="tx1"/>
          </a:solidFill>
          <a:latin typeface="+mn-lt"/>
          <a:ea typeface="+mn-ea"/>
          <a:cs typeface="+mn-cs"/>
        </a:defRPr>
      </a:lvl4pPr>
      <a:lvl5pPr marL="1650949" indent="-330190" algn="l" defTabSz="1320759" rtl="0" eaLnBrk="1" latinLnBrk="0" hangingPunct="1">
        <a:lnSpc>
          <a:spcPct val="120000"/>
        </a:lnSpc>
        <a:spcBef>
          <a:spcPts val="722"/>
        </a:spcBef>
        <a:buFont typeface="Arial" panose="020B0604020202020204" pitchFamily="34" charset="0"/>
        <a:buChar char="•"/>
        <a:defRPr sz="2022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82DB4A-1800-749E-197E-9BDEC50A3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56CEC-94F4-BE12-6AFC-552E18188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97C21-A17F-AF11-4539-7F1980D4E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380B3-E270-4064-8D13-292A875F6C31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27553-C2CE-41FC-220A-2D0684C5C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015FD-FC0B-2F02-F69C-CDADEEBAB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83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F9740-3010-C08A-EBB6-92F5A119F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1E82168C-4AEE-4611-0584-1451178C6AEF}"/>
              </a:ext>
            </a:extLst>
          </p:cNvPr>
          <p:cNvSpPr/>
          <p:nvPr/>
        </p:nvSpPr>
        <p:spPr>
          <a:xfrm>
            <a:off x="145809" y="1234889"/>
            <a:ext cx="6566381" cy="193238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Replace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inviting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pic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collage</a:t>
            </a:r>
            <a:endParaRPr lang="en-GB" sz="1200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Content Placeholder 9" descr="Space shuttle launch">
            <a:extLst>
              <a:ext uri="{FF2B5EF4-FFF2-40B4-BE49-F238E27FC236}">
                <a16:creationId xmlns:a16="http://schemas.microsoft.com/office/drawing/2014/main" id="{DF65ED4D-7160-BD0A-4B33-D1C4F6581A7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24" y="413302"/>
            <a:ext cx="576000" cy="576000"/>
          </a:xfrm>
          <a:prstGeom prst="flowChartConnector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0F60234E-77F1-45E0-536D-0C715EB88532}"/>
              </a:ext>
            </a:extLst>
          </p:cNvPr>
          <p:cNvSpPr/>
          <p:nvPr/>
        </p:nvSpPr>
        <p:spPr>
          <a:xfrm>
            <a:off x="145809" y="155038"/>
            <a:ext cx="6566381" cy="9595924"/>
          </a:xfrm>
          <a:prstGeom prst="flowChartProcess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804C255-EA3C-5570-277F-736F28095E79}"/>
              </a:ext>
            </a:extLst>
          </p:cNvPr>
          <p:cNvSpPr txBox="1">
            <a:spLocks/>
          </p:cNvSpPr>
          <p:nvPr/>
        </p:nvSpPr>
        <p:spPr>
          <a:xfrm>
            <a:off x="975509" y="247880"/>
            <a:ext cx="1191619" cy="3251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150" b="1" dirty="0">
                <a:latin typeface="Arial" panose="020B0604020202020204" pitchFamily="34" charset="0"/>
                <a:cs typeface="Arial" panose="020B0604020202020204" pitchFamily="34" charset="0"/>
              </a:rPr>
              <a:t>Team / Tiimi:</a:t>
            </a:r>
            <a:endParaRPr lang="en-GB" sz="11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201550C-6BBE-13B6-FA07-0256028BD230}"/>
              </a:ext>
            </a:extLst>
          </p:cNvPr>
          <p:cNvSpPr txBox="1">
            <a:spLocks/>
          </p:cNvSpPr>
          <p:nvPr/>
        </p:nvSpPr>
        <p:spPr>
          <a:xfrm>
            <a:off x="1969991" y="247880"/>
            <a:ext cx="4576934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team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GB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BAAC511-FA8E-6EAE-3A39-78C34644B681}"/>
              </a:ext>
            </a:extLst>
          </p:cNvPr>
          <p:cNvSpPr txBox="1">
            <a:spLocks/>
          </p:cNvSpPr>
          <p:nvPr/>
        </p:nvSpPr>
        <p:spPr>
          <a:xfrm>
            <a:off x="975510" y="491714"/>
            <a:ext cx="987410" cy="25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i-FI"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Members</a:t>
            </a:r>
            <a:r>
              <a:rPr lang="fi-FI" sz="1150" b="1" dirty="0">
                <a:latin typeface="Arial" panose="020B0604020202020204" pitchFamily="34" charset="0"/>
                <a:cs typeface="Arial" panose="020B0604020202020204" pitchFamily="34" charset="0"/>
              </a:rPr>
              <a:t> / Jäsenet:</a:t>
            </a:r>
            <a:endParaRPr lang="en-GB" sz="11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43E9A1E-1DBE-6A7D-1731-C17609DD0725}"/>
              </a:ext>
            </a:extLst>
          </p:cNvPr>
          <p:cNvSpPr txBox="1">
            <a:spLocks/>
          </p:cNvSpPr>
          <p:nvPr/>
        </p:nvSpPr>
        <p:spPr>
          <a:xfrm>
            <a:off x="1969991" y="487054"/>
            <a:ext cx="4576934" cy="396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names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team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members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GitHub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usernames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GB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A1B892B-3766-FBC1-D641-E2DAD34349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212" r="61800" b="2136"/>
          <a:stretch>
            <a:fillRect/>
          </a:stretch>
        </p:blipFill>
        <p:spPr>
          <a:xfrm>
            <a:off x="1635708" y="9178034"/>
            <a:ext cx="1211591" cy="5095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0F1B033-2714-49E8-0CDA-17CF2DF0A3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2038"/>
          <a:stretch>
            <a:fillRect/>
          </a:stretch>
        </p:blipFill>
        <p:spPr>
          <a:xfrm>
            <a:off x="340024" y="9040296"/>
            <a:ext cx="1511095" cy="619039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38E4C5D4-4048-6DF3-180D-9C32798E188D}"/>
              </a:ext>
            </a:extLst>
          </p:cNvPr>
          <p:cNvSpPr txBox="1">
            <a:spLocks/>
          </p:cNvSpPr>
          <p:nvPr/>
        </p:nvSpPr>
        <p:spPr>
          <a:xfrm>
            <a:off x="985237" y="918095"/>
            <a:ext cx="98741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150" b="1" dirty="0">
                <a:latin typeface="Arial" panose="020B0604020202020204" pitchFamily="34" charset="0"/>
                <a:cs typeface="Arial" panose="020B0604020202020204" pitchFamily="34" charset="0"/>
              </a:rPr>
              <a:t>GitHub:</a:t>
            </a:r>
            <a:endParaRPr lang="en-GB" sz="11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7F9F2E7-EA78-28B1-2FC7-8FE36C1A879A}"/>
              </a:ext>
            </a:extLst>
          </p:cNvPr>
          <p:cNvSpPr txBox="1">
            <a:spLocks/>
          </p:cNvSpPr>
          <p:nvPr/>
        </p:nvSpPr>
        <p:spPr>
          <a:xfrm>
            <a:off x="1969991" y="913583"/>
            <a:ext cx="4576934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GB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67B7C8-A3D8-ED08-5D01-01D4ADBC89F6}"/>
              </a:ext>
            </a:extLst>
          </p:cNvPr>
          <p:cNvSpPr txBox="1"/>
          <p:nvPr/>
        </p:nvSpPr>
        <p:spPr>
          <a:xfrm>
            <a:off x="398060" y="2628949"/>
            <a:ext cx="2844000" cy="415498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0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are a team of ICT students </a:t>
            </a:r>
            <a:r>
              <a:rPr lang="en-US" sz="105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specialising</a:t>
            </a:r>
            <a:r>
              <a:rPr lang="en-US" sz="10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in embedded systems and applied AI. </a:t>
            </a:r>
            <a:endParaRPr lang="en-GB" sz="105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12C0F0-D540-9008-BE25-35E301B0665A}"/>
              </a:ext>
            </a:extLst>
          </p:cNvPr>
          <p:cNvSpPr txBox="1"/>
          <p:nvPr/>
        </p:nvSpPr>
        <p:spPr>
          <a:xfrm>
            <a:off x="285317" y="3286337"/>
            <a:ext cx="3060000" cy="577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514350" fontAlgn="t">
              <a:lnSpc>
                <a:spcPts val="1600"/>
              </a:lnSpc>
              <a:spcAft>
                <a:spcPts val="200"/>
              </a:spcAft>
              <a:defRPr/>
            </a:pPr>
            <a:r>
              <a:rPr lang="en-GB" sz="1250" b="1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SmartLoad</a:t>
            </a:r>
            <a:r>
              <a:rPr lang="en-GB" sz="125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Adaptive Power Management for Small Industrial Devices</a:t>
            </a:r>
            <a:endParaRPr lang="en-GB" sz="125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Turning invisible energy waste into actionable intelligence — before damage happens.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tackles a common challenge in workshops and production environments: sudden power peaks from simultaneous equipment use that drive up costs and strain devices. 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Unlike complex solutions built for large factories, </a:t>
            </a: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provides a lightweight and practical </a:t>
            </a: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alternative.Using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an edge‑AI controller, </a:t>
            </a: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learns usage patterns and balances power dynamically. A clear, browser‑based dashboard shows current loads and predicts peaks 5–15 minutes ahead, helping users act in time.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solution reduces wasted energy, lowers peak pricing and extends equipment lifetime, while also supporting sustainability by cutting avoidable consumption and easing grid pressure. 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is a fully functional, modular prototype ready for piloting; early tests show 12–18% reductions in avoidable energy use.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At the showcase, you can explore the dashboard, see real‑time predictions and discuss how </a:t>
            </a: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could fit different operational contexts.</a:t>
            </a:r>
            <a:endParaRPr lang="en-US" sz="105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8DE475B-7EE8-D00B-D1AA-F583F31C68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75" y="9173120"/>
            <a:ext cx="1097200" cy="34181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3AF3740-E32C-DC6A-EF3D-2577513849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701" t="71212" r="15884" b="7"/>
          <a:stretch>
            <a:fillRect/>
          </a:stretch>
        </p:blipFill>
        <p:spPr>
          <a:xfrm>
            <a:off x="3907386" y="9129860"/>
            <a:ext cx="1389573" cy="519382"/>
          </a:xfrm>
          <a:prstGeom prst="rect">
            <a:avLst/>
          </a:prstGeom>
        </p:spPr>
      </p:pic>
      <p:sp>
        <p:nvSpPr>
          <p:cNvPr id="47" name="Flowchart: Process 46">
            <a:extLst>
              <a:ext uri="{FF2B5EF4-FFF2-40B4-BE49-F238E27FC236}">
                <a16:creationId xmlns:a16="http://schemas.microsoft.com/office/drawing/2014/main" id="{6E81553C-4419-7BDD-4F2F-ED3E385C5CBC}"/>
              </a:ext>
            </a:extLst>
          </p:cNvPr>
          <p:cNvSpPr/>
          <p:nvPr/>
        </p:nvSpPr>
        <p:spPr>
          <a:xfrm>
            <a:off x="6373368" y="174710"/>
            <a:ext cx="338822" cy="325170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7367E3C-0548-ED05-14AF-C72F7992DBD0}"/>
              </a:ext>
            </a:extLst>
          </p:cNvPr>
          <p:cNvSpPr txBox="1"/>
          <p:nvPr/>
        </p:nvSpPr>
        <p:spPr>
          <a:xfrm>
            <a:off x="3551513" y="3286336"/>
            <a:ext cx="3060000" cy="606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514350" rtl="0" eaLnBrk="1" fontAlgn="t" latinLnBrk="0" hangingPunct="1">
              <a:lnSpc>
                <a:spcPts val="16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250" b="1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250" b="1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– mukautuva tehonhallinta pienille teollisille laitteille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Muuntaa näkymättömän energiahukan hyödynnettäväksi tiedoksi – ennen kuin vahinkoja syntyy. 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vastaa yleiseen haasteeseen työpajoissa ja tuotantoympäristöissä: samanaikaisesta laitteiden käytöstä syntyviin äkillisiin tehopiikkeihin, jotka kasvattavat kustannuksia ja kuormittavat laitteita turhaan.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Toisin kuin monimutkaiset teollisuusratkaisut, </a:t>
            </a:r>
            <a:r>
              <a:rPr lang="fi-FI" sz="105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tarjoaa kevyen ja käytännöllisen vaihtoehdon. Edge‑AI‑ohjaimen avulla se oppii käyttökuvioita ja tasapainottaa tehonkulutusta. Selkeä selainpohjainen näkymä näyttää kuormat </a:t>
            </a:r>
            <a:r>
              <a:rPr lang="fi-FI" sz="1050" dirty="0">
                <a:latin typeface="Arial" panose="020B0604020202020204" pitchFamily="34" charset="0"/>
                <a:ea typeface="Aptos" panose="020B0004020202020204" pitchFamily="34" charset="0"/>
              </a:rPr>
              <a:t>ennakoiden 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tehopiikit 5–15 minuuttia etukäteen, jolloin käyttäjät reagoivat ajoissa.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Ratkaisu vähentää energiahukkaa, laskee huipputehomaksuja ja pidentää laitteiden käyttöikää sekä tukee kestävyyttä vähentämällä vältettävää kulutusta ja keventämällä sähköverkon kuormitusta. 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on täysin toimiva, modulaarinen prototyyppi pilotointiin; alustavat testit osoittavat 12–18 % vähennyksen vältettävässä energiankulutuksessa.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Esittelyssä voit tutustua näkymään, seurata reaaliaikaisia ennusteita ja keskustella siitä, miten </a:t>
            </a:r>
            <a:r>
              <a:rPr lang="fi-FI" sz="105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soveltuu erilaisiin toimintaympäristöihin.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9B5C19-6C65-EE61-89B4-A902E0FBD1DB}"/>
              </a:ext>
            </a:extLst>
          </p:cNvPr>
          <p:cNvSpPr txBox="1"/>
          <p:nvPr/>
        </p:nvSpPr>
        <p:spPr>
          <a:xfrm>
            <a:off x="3616417" y="2649106"/>
            <a:ext cx="2843523" cy="415498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0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are a team of ICT students </a:t>
            </a:r>
            <a:r>
              <a:rPr lang="en-US" sz="105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specialising</a:t>
            </a:r>
            <a:r>
              <a:rPr lang="en-US" sz="10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in embedded systems and applied AI. </a:t>
            </a:r>
            <a:endParaRPr lang="en-GB" sz="1050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12B970-A027-7F86-D903-4C8BAC59B58E}"/>
              </a:ext>
            </a:extLst>
          </p:cNvPr>
          <p:cNvSpPr txBox="1"/>
          <p:nvPr/>
        </p:nvSpPr>
        <p:spPr>
          <a:xfrm>
            <a:off x="5513959" y="9143329"/>
            <a:ext cx="10288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50" dirty="0">
                <a:latin typeface="Arial" panose="020B0604020202020204" pitchFamily="34" charset="0"/>
                <a:cs typeface="Arial" panose="020B0604020202020204" pitchFamily="34" charset="0"/>
              </a:rPr>
              <a:t>oulu.fi/</a:t>
            </a:r>
            <a:r>
              <a:rPr lang="fi-FI" sz="1050" dirty="0" err="1">
                <a:latin typeface="Arial" panose="020B0604020202020204" pitchFamily="34" charset="0"/>
                <a:cs typeface="Arial" panose="020B0604020202020204" pitchFamily="34" charset="0"/>
              </a:rPr>
              <a:t>itee</a:t>
            </a:r>
            <a:endParaRPr lang="fi-FI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i-FI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i-FI" sz="1050" dirty="0">
                <a:latin typeface="Arial" panose="020B0604020202020204" pitchFamily="34" charset="0"/>
                <a:cs typeface="Arial" panose="020B0604020202020204" pitchFamily="34" charset="0"/>
              </a:rPr>
              <a:t>ikapo.fi</a:t>
            </a:r>
          </a:p>
        </p:txBody>
      </p:sp>
    </p:spTree>
    <p:extLst>
      <p:ext uri="{BB962C8B-B14F-4D97-AF65-F5344CB8AC3E}">
        <p14:creationId xmlns:p14="http://schemas.microsoft.com/office/powerpoint/2010/main" val="317736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7828E-BE98-9A03-15BD-EB0CD6E7D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607BE13D-3D9D-A40F-8135-DF5557D293A5}"/>
              </a:ext>
            </a:extLst>
          </p:cNvPr>
          <p:cNvSpPr/>
          <p:nvPr/>
        </p:nvSpPr>
        <p:spPr>
          <a:xfrm>
            <a:off x="145809" y="1234889"/>
            <a:ext cx="6566381" cy="193238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Replace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inviting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pic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collage</a:t>
            </a:r>
            <a:endParaRPr lang="en-GB" sz="1200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Content Placeholder 9" descr="Space shuttle launch">
            <a:extLst>
              <a:ext uri="{FF2B5EF4-FFF2-40B4-BE49-F238E27FC236}">
                <a16:creationId xmlns:a16="http://schemas.microsoft.com/office/drawing/2014/main" id="{A290A06B-8DBB-3BC0-23E5-20CB91C1F4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24" y="413302"/>
            <a:ext cx="576000" cy="576000"/>
          </a:xfrm>
          <a:prstGeom prst="flowChartConnector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48DEA601-0814-E67A-BB70-9CA7BAF85D04}"/>
              </a:ext>
            </a:extLst>
          </p:cNvPr>
          <p:cNvSpPr/>
          <p:nvPr/>
        </p:nvSpPr>
        <p:spPr>
          <a:xfrm>
            <a:off x="145809" y="155038"/>
            <a:ext cx="6566381" cy="9595924"/>
          </a:xfrm>
          <a:prstGeom prst="flowChartProcess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6AFB9B-2D35-C320-7FDD-3BE0E5D982DC}"/>
              </a:ext>
            </a:extLst>
          </p:cNvPr>
          <p:cNvSpPr txBox="1">
            <a:spLocks/>
          </p:cNvSpPr>
          <p:nvPr/>
        </p:nvSpPr>
        <p:spPr>
          <a:xfrm>
            <a:off x="975509" y="247880"/>
            <a:ext cx="1191619" cy="3251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150" b="1" dirty="0">
                <a:latin typeface="Arial" panose="020B0604020202020204" pitchFamily="34" charset="0"/>
                <a:cs typeface="Arial" panose="020B0604020202020204" pitchFamily="34" charset="0"/>
              </a:rPr>
              <a:t>Team / Tiimi:</a:t>
            </a:r>
            <a:endParaRPr lang="en-GB" sz="11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01A29CD-F91D-C213-F71C-D7BEE34A231A}"/>
              </a:ext>
            </a:extLst>
          </p:cNvPr>
          <p:cNvSpPr txBox="1">
            <a:spLocks/>
          </p:cNvSpPr>
          <p:nvPr/>
        </p:nvSpPr>
        <p:spPr>
          <a:xfrm>
            <a:off x="1969991" y="247880"/>
            <a:ext cx="4576934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team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GB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AAB7F25-51EB-8386-CE56-8E2428E97FA0}"/>
              </a:ext>
            </a:extLst>
          </p:cNvPr>
          <p:cNvSpPr txBox="1">
            <a:spLocks/>
          </p:cNvSpPr>
          <p:nvPr/>
        </p:nvSpPr>
        <p:spPr>
          <a:xfrm>
            <a:off x="975510" y="491714"/>
            <a:ext cx="987410" cy="25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i-FI"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Members</a:t>
            </a:r>
            <a:r>
              <a:rPr lang="fi-FI" sz="1150" b="1" dirty="0">
                <a:latin typeface="Arial" panose="020B0604020202020204" pitchFamily="34" charset="0"/>
                <a:cs typeface="Arial" panose="020B0604020202020204" pitchFamily="34" charset="0"/>
              </a:rPr>
              <a:t> / Jäsenet:</a:t>
            </a:r>
            <a:endParaRPr lang="en-GB" sz="11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953395E-EB42-219A-419B-32522689CFDE}"/>
              </a:ext>
            </a:extLst>
          </p:cNvPr>
          <p:cNvSpPr txBox="1">
            <a:spLocks/>
          </p:cNvSpPr>
          <p:nvPr/>
        </p:nvSpPr>
        <p:spPr>
          <a:xfrm>
            <a:off x="1969991" y="487054"/>
            <a:ext cx="4576934" cy="396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names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team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members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GitHub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usernames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GB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A5A60F7-1883-16FA-9EA0-792CAC513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212" r="61800" b="2136"/>
          <a:stretch>
            <a:fillRect/>
          </a:stretch>
        </p:blipFill>
        <p:spPr>
          <a:xfrm>
            <a:off x="1635708" y="9178034"/>
            <a:ext cx="1211591" cy="5095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0DE7D58-E43D-455C-E623-4FD8F43DAA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2038"/>
          <a:stretch>
            <a:fillRect/>
          </a:stretch>
        </p:blipFill>
        <p:spPr>
          <a:xfrm>
            <a:off x="340024" y="9040296"/>
            <a:ext cx="1511095" cy="619039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4E2BA89D-0B9A-4543-2B35-5CC0CD24A654}"/>
              </a:ext>
            </a:extLst>
          </p:cNvPr>
          <p:cNvSpPr txBox="1">
            <a:spLocks/>
          </p:cNvSpPr>
          <p:nvPr/>
        </p:nvSpPr>
        <p:spPr>
          <a:xfrm>
            <a:off x="985237" y="918095"/>
            <a:ext cx="98741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150" b="1" dirty="0">
                <a:latin typeface="Arial" panose="020B0604020202020204" pitchFamily="34" charset="0"/>
                <a:cs typeface="Arial" panose="020B0604020202020204" pitchFamily="34" charset="0"/>
              </a:rPr>
              <a:t>GitHub:</a:t>
            </a:r>
            <a:endParaRPr lang="en-GB" sz="11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2E0024F-EF64-6B80-0CAB-B99179BB4BB2}"/>
              </a:ext>
            </a:extLst>
          </p:cNvPr>
          <p:cNvSpPr txBox="1">
            <a:spLocks/>
          </p:cNvSpPr>
          <p:nvPr/>
        </p:nvSpPr>
        <p:spPr>
          <a:xfrm>
            <a:off x="1969991" y="913583"/>
            <a:ext cx="4576934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GB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C4666C-D5A3-EBE5-BD9B-56E825F9729D}"/>
              </a:ext>
            </a:extLst>
          </p:cNvPr>
          <p:cNvSpPr txBox="1"/>
          <p:nvPr/>
        </p:nvSpPr>
        <p:spPr>
          <a:xfrm>
            <a:off x="398060" y="2628949"/>
            <a:ext cx="2844000" cy="415498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0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are a team of ICT students </a:t>
            </a:r>
            <a:r>
              <a:rPr lang="en-US" sz="105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specialising</a:t>
            </a:r>
            <a:r>
              <a:rPr lang="en-US" sz="10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in embedded systems and applied AI. </a:t>
            </a:r>
            <a:endParaRPr lang="en-GB" sz="105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3F3823-EBD1-E8FB-2F1F-A1443BFCE577}"/>
              </a:ext>
            </a:extLst>
          </p:cNvPr>
          <p:cNvSpPr txBox="1"/>
          <p:nvPr/>
        </p:nvSpPr>
        <p:spPr>
          <a:xfrm>
            <a:off x="285317" y="3286337"/>
            <a:ext cx="3060000" cy="577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514350" fontAlgn="t">
              <a:lnSpc>
                <a:spcPts val="1600"/>
              </a:lnSpc>
              <a:spcAft>
                <a:spcPts val="200"/>
              </a:spcAft>
              <a:defRPr/>
            </a:pPr>
            <a:r>
              <a:rPr lang="en-GB" sz="1250" b="1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SmartLoad</a:t>
            </a:r>
            <a:r>
              <a:rPr lang="en-GB" sz="125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Adaptive Power Management for Small Industrial Devices</a:t>
            </a:r>
            <a:endParaRPr lang="en-GB" sz="12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Turning invisible energy waste into actionable intelligence — before damage happens.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tackles a common challenge in workshops and production environments: sudden power peaks from simultaneous equipment use that drive up costs and strain devices. 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Unlike complex solutions built for large factories, </a:t>
            </a: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provides a lightweight and practical </a:t>
            </a: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alternative.Using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an edge‑AI controller, </a:t>
            </a: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learns usage patterns and balances power dynamically. A clear, browser‑based dashboard shows current loads and predicts peaks 5–15 minutes ahead, helping users act in time.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solution reduces wasted energy, lowers peak pricing and extends equipment lifetime, while also supporting sustainability by cutting avoidable consumption and easing grid pressure. 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is a fully functional, modular prototype ready for piloting; early tests show 12–18% reductions in avoidable energy use.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At the showcase, you can explore the dashboard, see real‑time predictions and discuss how </a:t>
            </a: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could fit different operational contexts.</a:t>
            </a:r>
            <a:endParaRPr lang="en-US" sz="105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93E36F8-5930-D22C-5823-1158C0895F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75" y="9173120"/>
            <a:ext cx="1097200" cy="34181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05074BD-9D9B-2D7A-83F2-8DE333DDF6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701" t="71212" r="15884" b="7"/>
          <a:stretch>
            <a:fillRect/>
          </a:stretch>
        </p:blipFill>
        <p:spPr>
          <a:xfrm>
            <a:off x="3907386" y="9129860"/>
            <a:ext cx="1389573" cy="519382"/>
          </a:xfrm>
          <a:prstGeom prst="rect">
            <a:avLst/>
          </a:prstGeom>
        </p:spPr>
      </p:pic>
      <p:sp>
        <p:nvSpPr>
          <p:cNvPr id="47" name="Flowchart: Process 46">
            <a:extLst>
              <a:ext uri="{FF2B5EF4-FFF2-40B4-BE49-F238E27FC236}">
                <a16:creationId xmlns:a16="http://schemas.microsoft.com/office/drawing/2014/main" id="{8188838D-8D4A-D595-6B43-8CCC347A2873}"/>
              </a:ext>
            </a:extLst>
          </p:cNvPr>
          <p:cNvSpPr/>
          <p:nvPr/>
        </p:nvSpPr>
        <p:spPr>
          <a:xfrm>
            <a:off x="6373368" y="160855"/>
            <a:ext cx="338822" cy="325170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1A71B6A-738F-FFE7-47AB-63817097DD7F}"/>
              </a:ext>
            </a:extLst>
          </p:cNvPr>
          <p:cNvSpPr txBox="1"/>
          <p:nvPr/>
        </p:nvSpPr>
        <p:spPr>
          <a:xfrm>
            <a:off x="3551513" y="3286336"/>
            <a:ext cx="3060000" cy="606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514350" rtl="0" eaLnBrk="1" fontAlgn="t" latinLnBrk="0" hangingPunct="1">
              <a:lnSpc>
                <a:spcPts val="16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250" b="1" dirty="0" err="1">
                <a:solidFill>
                  <a:schemeClr val="accent4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250" b="1" dirty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– mukautuva tehonhallinta pienille teollisille laitteille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Muuntaa näkymättömän energiahukan hyödynnettäväksi tiedoksi – ennen kuin vahinkoja syntyy. 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vastaa yleiseen haasteeseen työpajoissa ja tuotantoympäristöissä: samanaikaisesta laitteiden käytöstä syntyviin äkillisiin tehopiikkeihin, jotka kasvattavat kustannuksia ja kuormittavat laitteita turhaan.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Toisin kuin monimutkaiset teollisuusratkaisut, </a:t>
            </a:r>
            <a:r>
              <a:rPr lang="fi-FI" sz="105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tarjoaa kevyen ja käytännöllisen vaihtoehdon. Edge‑AI‑ohjaimen avulla se oppii käyttökuvioita ja tasapainottaa tehonkulutusta. Selkeä selainpohjainen näkymä näyttää kuormat </a:t>
            </a:r>
            <a:r>
              <a:rPr lang="fi-FI" sz="1050" dirty="0">
                <a:latin typeface="Arial" panose="020B0604020202020204" pitchFamily="34" charset="0"/>
                <a:ea typeface="Aptos" panose="020B0004020202020204" pitchFamily="34" charset="0"/>
              </a:rPr>
              <a:t>ennakoiden 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tehopiikit 5–15 minuuttia etukäteen, jolloin käyttäjät reagoivat ajoissa.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Ratkaisu vähentää energiahukkaa, laskee huipputehomaksuja ja pidentää laitteiden käyttöikää sekä tukee kestävyyttä vähentämällä vältettävää kulutusta ja keventämällä sähköverkon kuormitusta. 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on täysin toimiva, modulaarinen prototyyppi pilotointiin; alustavat testit osoittavat 12–18 % vähennyksen vältettävässä energiankulutuksessa.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Esittelyssä voit tutustua näkymään, seurata reaaliaikaisia ennusteita ja keskustella siitä, miten </a:t>
            </a:r>
            <a:r>
              <a:rPr lang="fi-FI" sz="105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soveltuu erilaisiin toimintaympäristöihin.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2EB486-BE03-274A-C18D-E64EA924BE17}"/>
              </a:ext>
            </a:extLst>
          </p:cNvPr>
          <p:cNvSpPr txBox="1"/>
          <p:nvPr/>
        </p:nvSpPr>
        <p:spPr>
          <a:xfrm>
            <a:off x="3616417" y="2649106"/>
            <a:ext cx="2843523" cy="415498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0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are a team of ICT students </a:t>
            </a:r>
            <a:r>
              <a:rPr lang="en-US" sz="105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specialising</a:t>
            </a:r>
            <a:r>
              <a:rPr lang="en-US" sz="10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in embedded systems and applied AI. </a:t>
            </a:r>
            <a:endParaRPr lang="en-GB" sz="1050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F30A0A-190E-1F3B-ABE9-F240D0EA195E}"/>
              </a:ext>
            </a:extLst>
          </p:cNvPr>
          <p:cNvSpPr txBox="1"/>
          <p:nvPr/>
        </p:nvSpPr>
        <p:spPr>
          <a:xfrm>
            <a:off x="5513959" y="9143329"/>
            <a:ext cx="10288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50" dirty="0">
                <a:latin typeface="Arial" panose="020B0604020202020204" pitchFamily="34" charset="0"/>
                <a:cs typeface="Arial" panose="020B0604020202020204" pitchFamily="34" charset="0"/>
              </a:rPr>
              <a:t>oulu.fi/</a:t>
            </a:r>
            <a:r>
              <a:rPr lang="fi-FI" sz="1050" dirty="0" err="1">
                <a:latin typeface="Arial" panose="020B0604020202020204" pitchFamily="34" charset="0"/>
                <a:cs typeface="Arial" panose="020B0604020202020204" pitchFamily="34" charset="0"/>
              </a:rPr>
              <a:t>itee</a:t>
            </a:r>
            <a:endParaRPr lang="fi-FI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i-FI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i-FI" sz="1050" dirty="0">
                <a:latin typeface="Arial" panose="020B0604020202020204" pitchFamily="34" charset="0"/>
                <a:cs typeface="Arial" panose="020B0604020202020204" pitchFamily="34" charset="0"/>
              </a:rPr>
              <a:t>ikapo.fi</a:t>
            </a:r>
          </a:p>
        </p:txBody>
      </p:sp>
    </p:spTree>
    <p:extLst>
      <p:ext uri="{BB962C8B-B14F-4D97-AF65-F5344CB8AC3E}">
        <p14:creationId xmlns:p14="http://schemas.microsoft.com/office/powerpoint/2010/main" val="3010883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BF8B0-1AC8-712D-591C-5FB3D4416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72FFA7D7-A5E2-8782-86C1-F5AA6A01FBE3}"/>
              </a:ext>
            </a:extLst>
          </p:cNvPr>
          <p:cNvSpPr/>
          <p:nvPr/>
        </p:nvSpPr>
        <p:spPr>
          <a:xfrm>
            <a:off x="145809" y="1234889"/>
            <a:ext cx="6566381" cy="193238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Replace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inviting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pic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collage</a:t>
            </a:r>
            <a:endParaRPr lang="en-GB" sz="1200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Content Placeholder 9" descr="Space shuttle launch">
            <a:extLst>
              <a:ext uri="{FF2B5EF4-FFF2-40B4-BE49-F238E27FC236}">
                <a16:creationId xmlns:a16="http://schemas.microsoft.com/office/drawing/2014/main" id="{73813F2B-8700-DD19-052B-21E66FB14B8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24" y="413302"/>
            <a:ext cx="576000" cy="576000"/>
          </a:xfrm>
          <a:prstGeom prst="flowChartConnector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A7898335-C269-DF52-1C03-E14BD1549C90}"/>
              </a:ext>
            </a:extLst>
          </p:cNvPr>
          <p:cNvSpPr/>
          <p:nvPr/>
        </p:nvSpPr>
        <p:spPr>
          <a:xfrm>
            <a:off x="145809" y="155038"/>
            <a:ext cx="6566381" cy="9595924"/>
          </a:xfrm>
          <a:prstGeom prst="flowChartProcess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D750DD-49DA-8670-4775-200C845D77ED}"/>
              </a:ext>
            </a:extLst>
          </p:cNvPr>
          <p:cNvSpPr txBox="1">
            <a:spLocks/>
          </p:cNvSpPr>
          <p:nvPr/>
        </p:nvSpPr>
        <p:spPr>
          <a:xfrm>
            <a:off x="975509" y="247880"/>
            <a:ext cx="1191619" cy="3251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150" b="1" dirty="0">
                <a:latin typeface="Arial" panose="020B0604020202020204" pitchFamily="34" charset="0"/>
                <a:cs typeface="Arial" panose="020B0604020202020204" pitchFamily="34" charset="0"/>
              </a:rPr>
              <a:t>Team / Tiimi:</a:t>
            </a:r>
            <a:endParaRPr lang="en-GB" sz="11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E59D031-12D9-349B-262B-7133BEC447E6}"/>
              </a:ext>
            </a:extLst>
          </p:cNvPr>
          <p:cNvSpPr txBox="1">
            <a:spLocks/>
          </p:cNvSpPr>
          <p:nvPr/>
        </p:nvSpPr>
        <p:spPr>
          <a:xfrm>
            <a:off x="1969991" y="247880"/>
            <a:ext cx="4576934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team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GB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2D94ADD-A998-99CF-DE75-F8837FDB8DC7}"/>
              </a:ext>
            </a:extLst>
          </p:cNvPr>
          <p:cNvSpPr txBox="1">
            <a:spLocks/>
          </p:cNvSpPr>
          <p:nvPr/>
        </p:nvSpPr>
        <p:spPr>
          <a:xfrm>
            <a:off x="975510" y="491714"/>
            <a:ext cx="987410" cy="25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i-FI"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Members</a:t>
            </a:r>
            <a:r>
              <a:rPr lang="fi-FI" sz="1150" b="1" dirty="0">
                <a:latin typeface="Arial" panose="020B0604020202020204" pitchFamily="34" charset="0"/>
                <a:cs typeface="Arial" panose="020B0604020202020204" pitchFamily="34" charset="0"/>
              </a:rPr>
              <a:t> / Jäsenet:</a:t>
            </a:r>
            <a:endParaRPr lang="en-GB" sz="11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68A5EFB-A9B9-E611-8D5E-EC2BBC4CABF2}"/>
              </a:ext>
            </a:extLst>
          </p:cNvPr>
          <p:cNvSpPr txBox="1">
            <a:spLocks/>
          </p:cNvSpPr>
          <p:nvPr/>
        </p:nvSpPr>
        <p:spPr>
          <a:xfrm>
            <a:off x="1969991" y="487054"/>
            <a:ext cx="4576934" cy="396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names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team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members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GitHub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usernames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GB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1D05D14-9907-5C55-93C3-1A8A4ACB9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212" r="61800" b="2136"/>
          <a:stretch>
            <a:fillRect/>
          </a:stretch>
        </p:blipFill>
        <p:spPr>
          <a:xfrm>
            <a:off x="1635708" y="9178034"/>
            <a:ext cx="1211591" cy="5095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3998CCE-D81E-1A51-F56B-D010933C6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2038"/>
          <a:stretch>
            <a:fillRect/>
          </a:stretch>
        </p:blipFill>
        <p:spPr>
          <a:xfrm>
            <a:off x="340024" y="9040296"/>
            <a:ext cx="1511095" cy="619039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211D92F9-9366-087A-160F-D502747FBB63}"/>
              </a:ext>
            </a:extLst>
          </p:cNvPr>
          <p:cNvSpPr txBox="1">
            <a:spLocks/>
          </p:cNvSpPr>
          <p:nvPr/>
        </p:nvSpPr>
        <p:spPr>
          <a:xfrm>
            <a:off x="985237" y="918095"/>
            <a:ext cx="98741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150" b="1" dirty="0">
                <a:latin typeface="Arial" panose="020B0604020202020204" pitchFamily="34" charset="0"/>
                <a:cs typeface="Arial" panose="020B0604020202020204" pitchFamily="34" charset="0"/>
              </a:rPr>
              <a:t>GitHub:</a:t>
            </a:r>
            <a:endParaRPr lang="en-GB" sz="11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F5101AD-D162-ADE4-90D3-08ED43F8E464}"/>
              </a:ext>
            </a:extLst>
          </p:cNvPr>
          <p:cNvSpPr txBox="1">
            <a:spLocks/>
          </p:cNvSpPr>
          <p:nvPr/>
        </p:nvSpPr>
        <p:spPr>
          <a:xfrm>
            <a:off x="1969991" y="913583"/>
            <a:ext cx="4576934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GB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391700-DA37-4D2A-1FF5-9A0A078E9ECB}"/>
              </a:ext>
            </a:extLst>
          </p:cNvPr>
          <p:cNvSpPr txBox="1"/>
          <p:nvPr/>
        </p:nvSpPr>
        <p:spPr>
          <a:xfrm>
            <a:off x="398060" y="2628949"/>
            <a:ext cx="2844000" cy="415498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10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are a team of ICT students </a:t>
            </a:r>
            <a:r>
              <a:rPr lang="en-US" sz="105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specialising</a:t>
            </a:r>
            <a:r>
              <a:rPr lang="en-US" sz="10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in embedded systems and applied AI. </a:t>
            </a:r>
            <a:endParaRPr lang="en-GB" sz="105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8DF114-4C71-8D1E-DCF7-0FC64CC44A96}"/>
              </a:ext>
            </a:extLst>
          </p:cNvPr>
          <p:cNvSpPr txBox="1"/>
          <p:nvPr/>
        </p:nvSpPr>
        <p:spPr>
          <a:xfrm>
            <a:off x="285317" y="3286337"/>
            <a:ext cx="3060000" cy="577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514350" fontAlgn="t">
              <a:lnSpc>
                <a:spcPts val="1600"/>
              </a:lnSpc>
              <a:spcAft>
                <a:spcPts val="200"/>
              </a:spcAft>
              <a:defRPr/>
            </a:pPr>
            <a:r>
              <a:rPr lang="en-GB" sz="125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SmartLoad</a:t>
            </a:r>
            <a:r>
              <a:rPr lang="en-GB" sz="125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Adaptive Power Management for Small Industrial Devices</a:t>
            </a:r>
            <a:endParaRPr lang="en-GB" sz="125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Turning invisible energy waste into actionable intelligence — before damage happens.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tackles a common challenge in workshops and production environments: sudden power peaks from simultaneous equipment use that drive up costs and strain devices. 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Unlike complex solutions built for large factories, </a:t>
            </a: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provides a lightweight and practical </a:t>
            </a: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alternative.Using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an edge‑AI controller, </a:t>
            </a: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learns usage patterns and balances power dynamically. A clear, browser‑based dashboard shows current loads and predicts peaks 5–15 minutes ahead, helping users act in time.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solution reduces wasted energy, lowers peak pricing and extends equipment lifetime, while also supporting sustainability by cutting avoidable consumption and easing grid pressure. 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is a fully functional, modular prototype ready for piloting; early tests show 12–18% reductions in avoidable energy use.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At the showcase, you can explore the dashboard, see real‑time predictions and discuss how </a:t>
            </a: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could fit different operational contexts.</a:t>
            </a:r>
            <a:endParaRPr lang="en-US" sz="105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3A8E0D5-3507-46FD-9505-A2283D2B65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75" y="9173120"/>
            <a:ext cx="1097200" cy="34181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A72B7DC-55DB-FA8F-4B03-1B9271E14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701" t="71212" r="15884" b="7"/>
          <a:stretch>
            <a:fillRect/>
          </a:stretch>
        </p:blipFill>
        <p:spPr>
          <a:xfrm>
            <a:off x="3907386" y="9129860"/>
            <a:ext cx="1389573" cy="519382"/>
          </a:xfrm>
          <a:prstGeom prst="rect">
            <a:avLst/>
          </a:prstGeom>
        </p:spPr>
      </p:pic>
      <p:sp>
        <p:nvSpPr>
          <p:cNvPr id="47" name="Flowchart: Process 46">
            <a:extLst>
              <a:ext uri="{FF2B5EF4-FFF2-40B4-BE49-F238E27FC236}">
                <a16:creationId xmlns:a16="http://schemas.microsoft.com/office/drawing/2014/main" id="{EC9C77F3-92AE-85E2-CA5F-B20E2ADA7C3A}"/>
              </a:ext>
            </a:extLst>
          </p:cNvPr>
          <p:cNvSpPr/>
          <p:nvPr/>
        </p:nvSpPr>
        <p:spPr>
          <a:xfrm>
            <a:off x="6373368" y="160855"/>
            <a:ext cx="338822" cy="325170"/>
          </a:xfrm>
          <a:prstGeom prst="flowChartProcess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98D8459-AB63-DB2E-71FF-0CE80003CA68}"/>
              </a:ext>
            </a:extLst>
          </p:cNvPr>
          <p:cNvSpPr txBox="1"/>
          <p:nvPr/>
        </p:nvSpPr>
        <p:spPr>
          <a:xfrm>
            <a:off x="3551513" y="3286336"/>
            <a:ext cx="3060000" cy="606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514350" rtl="0" eaLnBrk="1" fontAlgn="t" latinLnBrk="0" hangingPunct="1">
              <a:lnSpc>
                <a:spcPts val="16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250" b="1" dirty="0" err="1">
                <a:solidFill>
                  <a:schemeClr val="accent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250" b="1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– mukautuva tehonhallinta pienille teollisille laitteille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Muuntaa näkymättömän energiahukan hyödynnettäväksi tiedoksi – ennen kuin vahinkoja syntyy. 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vastaa yleiseen haasteeseen työpajoissa ja tuotantoympäristöissä: samanaikaisesta laitteiden käytöstä syntyviin äkillisiin tehopiikkeihin, jotka kasvattavat kustannuksia ja kuormittavat laitteita turhaan.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Toisin kuin monimutkaiset teollisuusratkaisut, </a:t>
            </a:r>
            <a:r>
              <a:rPr lang="fi-FI" sz="105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tarjoaa kevyen ja käytännöllisen vaihtoehdon. Edge‑AI‑ohjaimen avulla se oppii käyttökuvioita ja tasapainottaa tehonkulutusta. Selkeä selainpohjainen näkymä näyttää kuormat </a:t>
            </a:r>
            <a:r>
              <a:rPr lang="fi-FI" sz="1050" dirty="0">
                <a:latin typeface="Arial" panose="020B0604020202020204" pitchFamily="34" charset="0"/>
                <a:ea typeface="Aptos" panose="020B0004020202020204" pitchFamily="34" charset="0"/>
              </a:rPr>
              <a:t>ennakoiden 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tehopiikit 5–15 minuuttia etukäteen, jolloin käyttäjät reagoivat ajoissa.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Ratkaisu vähentää energiahukkaa, laskee huipputehomaksuja ja pidentää laitteiden käyttöikää sekä tukee kestävyyttä vähentämällä vältettävää kulutusta ja keventämällä sähköverkon kuormitusta. 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on täysin toimiva, modulaarinen prototyyppi pilotointiin; alustavat testit osoittavat 12–18 % vähennyksen vältettävässä energiankulutuksessa.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Esittelyssä voit tutustua näkymään, seurata reaaliaikaisia ennusteita ja keskustella siitä, miten </a:t>
            </a:r>
            <a:r>
              <a:rPr lang="fi-FI" sz="105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soveltuu erilaisiin toimintaympäristöihin.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820DBA-2FBE-F7F9-023E-DCD809CC1344}"/>
              </a:ext>
            </a:extLst>
          </p:cNvPr>
          <p:cNvSpPr txBox="1"/>
          <p:nvPr/>
        </p:nvSpPr>
        <p:spPr>
          <a:xfrm>
            <a:off x="3616417" y="2649106"/>
            <a:ext cx="2843523" cy="415498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10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are a team of ICT students </a:t>
            </a:r>
            <a:r>
              <a:rPr lang="en-US" sz="105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specialising</a:t>
            </a:r>
            <a:r>
              <a:rPr lang="en-US" sz="10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in embedded systems and applied AI. </a:t>
            </a:r>
            <a:endParaRPr lang="en-GB" sz="1050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7FDD7C-9137-4924-BE4E-1F14B6D919D0}"/>
              </a:ext>
            </a:extLst>
          </p:cNvPr>
          <p:cNvSpPr txBox="1"/>
          <p:nvPr/>
        </p:nvSpPr>
        <p:spPr>
          <a:xfrm>
            <a:off x="5513959" y="9143329"/>
            <a:ext cx="10288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50" dirty="0">
                <a:latin typeface="Arial" panose="020B0604020202020204" pitchFamily="34" charset="0"/>
                <a:cs typeface="Arial" panose="020B0604020202020204" pitchFamily="34" charset="0"/>
              </a:rPr>
              <a:t>oulu.fi/</a:t>
            </a:r>
            <a:r>
              <a:rPr lang="fi-FI" sz="1050" dirty="0" err="1">
                <a:latin typeface="Arial" panose="020B0604020202020204" pitchFamily="34" charset="0"/>
                <a:cs typeface="Arial" panose="020B0604020202020204" pitchFamily="34" charset="0"/>
              </a:rPr>
              <a:t>itee</a:t>
            </a:r>
            <a:endParaRPr lang="fi-FI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i-FI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i-FI" sz="1050" dirty="0">
                <a:latin typeface="Arial" panose="020B0604020202020204" pitchFamily="34" charset="0"/>
                <a:cs typeface="Arial" panose="020B0604020202020204" pitchFamily="34" charset="0"/>
              </a:rPr>
              <a:t>ikapo.fi</a:t>
            </a:r>
          </a:p>
        </p:txBody>
      </p:sp>
    </p:spTree>
    <p:extLst>
      <p:ext uri="{BB962C8B-B14F-4D97-AF65-F5344CB8AC3E}">
        <p14:creationId xmlns:p14="http://schemas.microsoft.com/office/powerpoint/2010/main" val="276720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C4233-BC26-3B17-3A48-6FC3D6AD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53A0B9DD-C080-BC35-41E3-10F388EA70C7}"/>
              </a:ext>
            </a:extLst>
          </p:cNvPr>
          <p:cNvSpPr/>
          <p:nvPr/>
        </p:nvSpPr>
        <p:spPr>
          <a:xfrm>
            <a:off x="145809" y="1234889"/>
            <a:ext cx="6566381" cy="193238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Replace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inviting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pic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fi-FI" sz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fi-FI" sz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collage</a:t>
            </a:r>
            <a:endParaRPr lang="en-GB" sz="1200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Content Placeholder 9" descr="Space shuttle launch">
            <a:extLst>
              <a:ext uri="{FF2B5EF4-FFF2-40B4-BE49-F238E27FC236}">
                <a16:creationId xmlns:a16="http://schemas.microsoft.com/office/drawing/2014/main" id="{2EE33F64-2123-7F46-AAF2-00B25D88B89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24" y="413302"/>
            <a:ext cx="576000" cy="576000"/>
          </a:xfrm>
          <a:prstGeom prst="flowChartConnector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57160870-C34B-B44D-8756-78DCCC4A28ED}"/>
              </a:ext>
            </a:extLst>
          </p:cNvPr>
          <p:cNvSpPr/>
          <p:nvPr/>
        </p:nvSpPr>
        <p:spPr>
          <a:xfrm>
            <a:off x="145809" y="155038"/>
            <a:ext cx="6566381" cy="9595924"/>
          </a:xfrm>
          <a:prstGeom prst="flowChartProcess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0EC6DB-A0ED-C22E-E62E-66A39C49CD39}"/>
              </a:ext>
            </a:extLst>
          </p:cNvPr>
          <p:cNvSpPr txBox="1">
            <a:spLocks/>
          </p:cNvSpPr>
          <p:nvPr/>
        </p:nvSpPr>
        <p:spPr>
          <a:xfrm>
            <a:off x="975509" y="247880"/>
            <a:ext cx="1191619" cy="3251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150" b="1" dirty="0">
                <a:latin typeface="Arial" panose="020B0604020202020204" pitchFamily="34" charset="0"/>
                <a:cs typeface="Arial" panose="020B0604020202020204" pitchFamily="34" charset="0"/>
              </a:rPr>
              <a:t>Team / Tiimi:</a:t>
            </a:r>
            <a:endParaRPr lang="en-GB" sz="11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05A676D-BDE8-8B00-9D77-B3D5C2D8DD14}"/>
              </a:ext>
            </a:extLst>
          </p:cNvPr>
          <p:cNvSpPr txBox="1">
            <a:spLocks/>
          </p:cNvSpPr>
          <p:nvPr/>
        </p:nvSpPr>
        <p:spPr>
          <a:xfrm>
            <a:off x="1969991" y="247880"/>
            <a:ext cx="4576934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team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GB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EA23050-AC38-0CDC-2F68-ADD81B702D82}"/>
              </a:ext>
            </a:extLst>
          </p:cNvPr>
          <p:cNvSpPr txBox="1">
            <a:spLocks/>
          </p:cNvSpPr>
          <p:nvPr/>
        </p:nvSpPr>
        <p:spPr>
          <a:xfrm>
            <a:off x="975510" y="491714"/>
            <a:ext cx="987410" cy="25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i-FI"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Members</a:t>
            </a:r>
            <a:r>
              <a:rPr lang="fi-FI" sz="1150" b="1" dirty="0">
                <a:latin typeface="Arial" panose="020B0604020202020204" pitchFamily="34" charset="0"/>
                <a:cs typeface="Arial" panose="020B0604020202020204" pitchFamily="34" charset="0"/>
              </a:rPr>
              <a:t> / Jäsenet:</a:t>
            </a:r>
            <a:endParaRPr lang="en-GB" sz="11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F387643-FD82-841B-DB53-2C414918CD65}"/>
              </a:ext>
            </a:extLst>
          </p:cNvPr>
          <p:cNvSpPr txBox="1">
            <a:spLocks/>
          </p:cNvSpPr>
          <p:nvPr/>
        </p:nvSpPr>
        <p:spPr>
          <a:xfrm>
            <a:off x="1969991" y="487054"/>
            <a:ext cx="4576934" cy="396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names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team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members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GitHub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usernames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GB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7CC30CE-AE5E-26A6-F9DF-D992A4E23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212" r="61800" b="2136"/>
          <a:stretch>
            <a:fillRect/>
          </a:stretch>
        </p:blipFill>
        <p:spPr>
          <a:xfrm>
            <a:off x="1635708" y="9178034"/>
            <a:ext cx="1211591" cy="5095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C70B9D2-2094-3D89-9A62-2CD1762E22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2038"/>
          <a:stretch>
            <a:fillRect/>
          </a:stretch>
        </p:blipFill>
        <p:spPr>
          <a:xfrm>
            <a:off x="340024" y="9040296"/>
            <a:ext cx="1511095" cy="619039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D0241DD2-0CD2-2659-AF2F-63ED827AC09B}"/>
              </a:ext>
            </a:extLst>
          </p:cNvPr>
          <p:cNvSpPr txBox="1">
            <a:spLocks/>
          </p:cNvSpPr>
          <p:nvPr/>
        </p:nvSpPr>
        <p:spPr>
          <a:xfrm>
            <a:off x="985237" y="918095"/>
            <a:ext cx="98741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150" b="1" dirty="0">
                <a:latin typeface="Arial" panose="020B0604020202020204" pitchFamily="34" charset="0"/>
                <a:cs typeface="Arial" panose="020B0604020202020204" pitchFamily="34" charset="0"/>
              </a:rPr>
              <a:t>GitHub:</a:t>
            </a:r>
            <a:endParaRPr lang="en-GB" sz="11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CCE18EA-8F5B-B13D-DE83-0DE0A08B63D0}"/>
              </a:ext>
            </a:extLst>
          </p:cNvPr>
          <p:cNvSpPr txBox="1">
            <a:spLocks/>
          </p:cNvSpPr>
          <p:nvPr/>
        </p:nvSpPr>
        <p:spPr>
          <a:xfrm>
            <a:off x="1969991" y="913583"/>
            <a:ext cx="4576934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sz="1150" dirty="0" err="1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fi-FI" sz="115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GB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5955A0-AF7E-C010-467E-206911C0440A}"/>
              </a:ext>
            </a:extLst>
          </p:cNvPr>
          <p:cNvSpPr txBox="1"/>
          <p:nvPr/>
        </p:nvSpPr>
        <p:spPr>
          <a:xfrm>
            <a:off x="398060" y="2628949"/>
            <a:ext cx="2844000" cy="415498"/>
          </a:xfrm>
          <a:prstGeom prst="rect">
            <a:avLst/>
          </a:prstGeom>
          <a:solidFill>
            <a:schemeClr val="accent5"/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10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are a team of ICT students </a:t>
            </a:r>
            <a:r>
              <a:rPr lang="en-US" sz="105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specialising</a:t>
            </a:r>
            <a:r>
              <a:rPr lang="en-US" sz="10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in embedded systems and applied AI. </a:t>
            </a:r>
            <a:endParaRPr lang="en-GB" sz="105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178D9B-6803-353A-BE82-99F13EAF3C0C}"/>
              </a:ext>
            </a:extLst>
          </p:cNvPr>
          <p:cNvSpPr txBox="1"/>
          <p:nvPr/>
        </p:nvSpPr>
        <p:spPr>
          <a:xfrm>
            <a:off x="285317" y="3286337"/>
            <a:ext cx="3060000" cy="577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514350" fontAlgn="t">
              <a:lnSpc>
                <a:spcPts val="1600"/>
              </a:lnSpc>
              <a:spcAft>
                <a:spcPts val="200"/>
              </a:spcAft>
              <a:defRPr/>
            </a:pPr>
            <a:r>
              <a:rPr lang="en-GB" sz="1250" b="1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SmartLoad</a:t>
            </a:r>
            <a:r>
              <a:rPr lang="en-GB" sz="125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Adaptive Power Management for Small Industrial Devices</a:t>
            </a:r>
            <a:endParaRPr lang="en-GB" sz="125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Turning invisible energy waste into actionable intelligence — before damage happens.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tackles a common challenge in workshops and production environments: sudden power peaks from simultaneous equipment use that drive up costs and strain devices. 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Unlike complex solutions built for large factories, </a:t>
            </a: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provides a lightweight and practical </a:t>
            </a: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alternative.Using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an edge‑AI controller, </a:t>
            </a: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learns usage patterns and balances power dynamically. A clear, browser‑based dashboard shows current loads and predicts peaks 5–15 minutes ahead, helping users act in time.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solution reduces wasted energy, lowers peak pricing and extends equipment lifetime, while also supporting sustainability by cutting avoidable consumption and easing grid pressure. 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is a fully functional, modular prototype ready for piloting; early tests show 12–18% reductions in avoidable energy use.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At the showcase, you can explore the dashboard, see real‑time predictions and discuss how </a:t>
            </a:r>
            <a:r>
              <a:rPr lang="en-US" sz="105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en-US" sz="105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could fit different operational contexts.</a:t>
            </a:r>
            <a:endParaRPr lang="en-US" sz="105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7A86F59-20E3-D674-9A9F-472636FB68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75" y="9173120"/>
            <a:ext cx="1097200" cy="34181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84D996F-71EF-E5F1-D448-709A9D5A5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701" t="71212" r="15884" b="7"/>
          <a:stretch>
            <a:fillRect/>
          </a:stretch>
        </p:blipFill>
        <p:spPr>
          <a:xfrm>
            <a:off x="3907386" y="9129860"/>
            <a:ext cx="1389573" cy="519382"/>
          </a:xfrm>
          <a:prstGeom prst="rect">
            <a:avLst/>
          </a:prstGeom>
        </p:spPr>
      </p:pic>
      <p:sp>
        <p:nvSpPr>
          <p:cNvPr id="47" name="Flowchart: Process 46">
            <a:extLst>
              <a:ext uri="{FF2B5EF4-FFF2-40B4-BE49-F238E27FC236}">
                <a16:creationId xmlns:a16="http://schemas.microsoft.com/office/drawing/2014/main" id="{EDC377BD-142A-99F4-205A-600DC15C605A}"/>
              </a:ext>
            </a:extLst>
          </p:cNvPr>
          <p:cNvSpPr/>
          <p:nvPr/>
        </p:nvSpPr>
        <p:spPr>
          <a:xfrm>
            <a:off x="6373368" y="160855"/>
            <a:ext cx="338822" cy="325170"/>
          </a:xfrm>
          <a:prstGeom prst="flowChartProcess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9EBDBE-18C6-8673-AB3D-C0D9045B7E31}"/>
              </a:ext>
            </a:extLst>
          </p:cNvPr>
          <p:cNvSpPr txBox="1"/>
          <p:nvPr/>
        </p:nvSpPr>
        <p:spPr>
          <a:xfrm>
            <a:off x="3551513" y="3286336"/>
            <a:ext cx="3060000" cy="606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514350" rtl="0" eaLnBrk="1" fontAlgn="t" latinLnBrk="0" hangingPunct="1">
              <a:lnSpc>
                <a:spcPts val="16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250" b="1" dirty="0" err="1">
                <a:solidFill>
                  <a:schemeClr val="accent5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250" b="1" dirty="0">
                <a:solidFill>
                  <a:schemeClr val="accent5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– mukautuva tehonhallinta pienille teollisille laitteille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Muuntaa näkymättömän energiahukan hyödynnettäväksi tiedoksi – ennen kuin vahinkoja syntyy. 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vastaa yleiseen haasteeseen työpajoissa ja tuotantoympäristöissä: samanaikaisesta laitteiden käytöstä syntyviin äkillisiin tehopiikkeihin, jotka kasvattavat kustannuksia ja kuormittavat laitteita turhaan.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Toisin kuin monimutkaiset teollisuusratkaisut, </a:t>
            </a:r>
            <a:r>
              <a:rPr lang="fi-FI" sz="105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tarjoaa kevyen ja käytännöllisen vaihtoehdon. Edge‑AI‑ohjaimen avulla se oppii käyttökuvioita ja tasapainottaa tehonkulutusta. Selkeä selainpohjainen näkymä näyttää kuormat </a:t>
            </a:r>
            <a:r>
              <a:rPr lang="fi-FI" sz="1050" dirty="0">
                <a:latin typeface="Arial" panose="020B0604020202020204" pitchFamily="34" charset="0"/>
                <a:ea typeface="Aptos" panose="020B0004020202020204" pitchFamily="34" charset="0"/>
              </a:rPr>
              <a:t>ennakoiden 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tehopiikit 5–15 minuuttia etukäteen, jolloin käyttäjät reagoivat ajoissa.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Ratkaisu vähentää energiahukkaa, laskee huipputehomaksuja ja pidentää laitteiden käyttöikää sekä tukee kestävyyttä vähentämällä vältettävää kulutusta ja keventämällä sähköverkon kuormitusta. 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on täysin toimiva, modulaarinen prototyyppi pilotointiin; alustavat testit osoittavat 12–18 % vähennyksen vältettävässä energiankulutuksessa.</a:t>
            </a:r>
          </a:p>
          <a:p>
            <a:pPr marL="0" marR="0" lvl="0" indent="0" algn="just" defTabSz="514350" rtl="0" eaLnBrk="1" fontAlgn="t" latinLnBrk="0" hangingPunct="1">
              <a:lnSpc>
                <a:spcPts val="13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Esittelyssä voit tutustua näkymään, seurata reaaliaikaisia ennusteita ja keskustella siitä, miten </a:t>
            </a:r>
            <a:r>
              <a:rPr lang="fi-FI" sz="105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SmartLoad</a:t>
            </a:r>
            <a:r>
              <a:rPr lang="fi-FI" sz="105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soveltuu erilaisiin toimintaympäristöihin.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E56FFB-37D9-A608-6920-24CB46BE6391}"/>
              </a:ext>
            </a:extLst>
          </p:cNvPr>
          <p:cNvSpPr txBox="1"/>
          <p:nvPr/>
        </p:nvSpPr>
        <p:spPr>
          <a:xfrm>
            <a:off x="3616417" y="2649106"/>
            <a:ext cx="2843523" cy="415498"/>
          </a:xfrm>
          <a:prstGeom prst="rect">
            <a:avLst/>
          </a:prstGeom>
          <a:solidFill>
            <a:schemeClr val="accent5"/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10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are a team of ICT students </a:t>
            </a:r>
            <a:r>
              <a:rPr lang="en-US" sz="105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specialising</a:t>
            </a:r>
            <a:r>
              <a:rPr lang="en-US" sz="10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in embedded systems and applied AI. </a:t>
            </a:r>
            <a:endParaRPr lang="en-GB" sz="1050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FF3C90-9A34-2D2F-AE08-FEA123884493}"/>
              </a:ext>
            </a:extLst>
          </p:cNvPr>
          <p:cNvSpPr txBox="1"/>
          <p:nvPr/>
        </p:nvSpPr>
        <p:spPr>
          <a:xfrm>
            <a:off x="5513959" y="9143329"/>
            <a:ext cx="10288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50" dirty="0">
                <a:latin typeface="Arial" panose="020B0604020202020204" pitchFamily="34" charset="0"/>
                <a:cs typeface="Arial" panose="020B0604020202020204" pitchFamily="34" charset="0"/>
              </a:rPr>
              <a:t>oulu.fi/</a:t>
            </a:r>
            <a:r>
              <a:rPr lang="fi-FI" sz="1050" dirty="0" err="1">
                <a:latin typeface="Arial" panose="020B0604020202020204" pitchFamily="34" charset="0"/>
                <a:cs typeface="Arial" panose="020B0604020202020204" pitchFamily="34" charset="0"/>
              </a:rPr>
              <a:t>itee</a:t>
            </a:r>
            <a:endParaRPr lang="fi-FI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i-FI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i-FI" sz="1050" dirty="0">
                <a:latin typeface="Arial" panose="020B0604020202020204" pitchFamily="34" charset="0"/>
                <a:cs typeface="Arial" panose="020B0604020202020204" pitchFamily="34" charset="0"/>
              </a:rPr>
              <a:t>ikapo.fi</a:t>
            </a:r>
          </a:p>
        </p:txBody>
      </p:sp>
    </p:spTree>
    <p:extLst>
      <p:ext uri="{BB962C8B-B14F-4D97-AF65-F5344CB8AC3E}">
        <p14:creationId xmlns:p14="http://schemas.microsoft.com/office/powerpoint/2010/main" val="1651966244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f9ce49a-5101-4aa3-8c75-0d5935ad6525}" enabled="0" method="" siteId="{9f9ce49a-5101-4aa3-8c75-0d5935ad652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10134</TotalTime>
  <Words>1596</Words>
  <Application>Microsoft Office PowerPoint</Application>
  <PresentationFormat>A4 Paper (210x297 mm)</PresentationFormat>
  <Paragraphs>108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Dune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University of Oulu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Hanna Saarela</dc:creator>
  <cp:lastModifiedBy>Hanna Saarela</cp:lastModifiedBy>
  <cp:revision>14</cp:revision>
  <cp:lastPrinted>2026-04-01T16:03:04Z</cp:lastPrinted>
  <dcterms:created xsi:type="dcterms:W3CDTF">2026-03-25T15:24:03Z</dcterms:created>
  <dcterms:modified xsi:type="dcterms:W3CDTF">2026-04-09T13:31:49Z</dcterms:modified>
</cp:coreProperties>
</file>